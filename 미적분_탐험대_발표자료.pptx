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01200" y="-457200"/>
            <a:ext cx="3200400" cy="32004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89920" y="5029200"/>
            <a:ext cx="2286000" cy="2286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4114800"/>
            <a:ext cx="2286000" cy="2286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algun Gothic"/>
              </a:rPr>
              <a:t>🚀 미적분 탐험대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800" dirty="0">
                <a:solidFill>
                  <a:srgbClr val="BBDEFB"/>
                </a:solidFill>
                <a:latin typeface="Malgun Gothic"/>
              </a:rPr>
              <a:t>수포자</a:t>
            </a:r>
            <a:r>
              <a:rPr sz="2800" b="0" dirty="0">
                <a:solidFill>
                  <a:srgbClr val="BBDEFB"/>
                </a:solidFill>
                <a:latin typeface="Malgun Gothic"/>
              </a:rPr>
              <a:t>도 </a:t>
            </a:r>
            <a:r>
              <a:rPr sz="2800" b="0" dirty="0" err="1">
                <a:solidFill>
                  <a:srgbClr val="BBDEFB"/>
                </a:solidFill>
                <a:latin typeface="Malgun Gothic"/>
              </a:rPr>
              <a:t>이해하는</a:t>
            </a:r>
            <a:r>
              <a:rPr sz="2800" b="0" dirty="0">
                <a:solidFill>
                  <a:srgbClr val="BBDEFB"/>
                </a:solidFill>
                <a:latin typeface="Malgun Gothic"/>
              </a:rPr>
              <a:t> </a:t>
            </a:r>
            <a:r>
              <a:rPr sz="2800" b="0" dirty="0" err="1">
                <a:solidFill>
                  <a:srgbClr val="BBDEFB"/>
                </a:solidFill>
                <a:latin typeface="Malgun Gothic"/>
              </a:rPr>
              <a:t>미분</a:t>
            </a:r>
            <a:r>
              <a:rPr sz="2800" b="0" dirty="0">
                <a:solidFill>
                  <a:srgbClr val="BBDEFB"/>
                </a:solidFill>
                <a:latin typeface="Malgun Gothic"/>
              </a:rPr>
              <a:t> · </a:t>
            </a:r>
            <a:r>
              <a:rPr sz="2800" b="0" dirty="0" err="1">
                <a:solidFill>
                  <a:srgbClr val="BBDEFB"/>
                </a:solidFill>
                <a:latin typeface="Malgun Gothic"/>
              </a:rPr>
              <a:t>적분</a:t>
            </a:r>
            <a:r>
              <a:rPr sz="2800" b="0" dirty="0">
                <a:solidFill>
                  <a:srgbClr val="BBDEFB"/>
                </a:solidFill>
                <a:latin typeface="Malgun Gothic"/>
              </a:rPr>
              <a:t> </a:t>
            </a:r>
            <a:r>
              <a:rPr sz="2800" b="0" dirty="0" err="1">
                <a:solidFill>
                  <a:srgbClr val="BBDEFB"/>
                </a:solidFill>
                <a:latin typeface="Malgun Gothic"/>
              </a:rPr>
              <a:t>여행</a:t>
            </a:r>
            <a:endParaRPr sz="2800" b="0" dirty="0">
              <a:solidFill>
                <a:srgbClr val="BBDEFB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0CAF9"/>
                </a:solidFill>
                <a:latin typeface="Malgun Gothic"/>
              </a:rPr>
              <a:t>Streamlit + Ollama (gemma4) 기반 스토리텔링 학습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3F2FD"/>
                </a:solidFill>
                <a:latin typeface="Malgun Gothic"/>
              </a:rPr>
              <a:t>📏 수직선  →  📊 함수  →  📐 기울기  →  🎢 이차함수  →  ⚡ 미분  →  🏞️ 적분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algun Gothic"/>
              </a:rPr>
              <a:t>📚 학습 여정 — 6단계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3383280" cy="20116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📏 수직선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>숫자들의 집
양수·음수·0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280160"/>
            <a:ext cx="3383280" cy="20116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7830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📊 함숫값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3317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>마법 상자 함수
입력 → 출력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280160"/>
            <a:ext cx="3383280" cy="20116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7830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📐 기울기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3317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>얼마나 가파를까?
세로÷가로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57600"/>
            <a:ext cx="3383280" cy="201168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7490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16052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🎢 이차함수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70916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>포물선의 세계
y=ax²+bx+c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3657600"/>
            <a:ext cx="3383280" cy="20116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0" y="37490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16052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⚡ 미분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70916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>순간 기울기!
극한 → 접선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3657600"/>
            <a:ext cx="3383280" cy="2011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8160" y="37490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416052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🏞️ 적분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470916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>넓이를 구하자!
무한 직사각형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algun Gothic"/>
              </a:rPr>
              <a:t>Chapter 1. 수직선 (Number Line)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303520" cy="15544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47A1"/>
                </a:solidFill>
                <a:latin typeface="Malgun Gothic"/>
              </a:rPr>
              <a:t>💬 수직선은 모든 수를 한 줄에 늘어놓은 것! 온도계, 엘리베이터 모두 수직선이에요.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834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Malgun Gothic"/>
              </a:rPr>
              <a:t>• 0을 중심으로 오른쪽: 양수(+), 왼쪽: 음수(-)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3101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Malgun Gothic"/>
              </a:rPr>
              <a:t>• 오른쪽일수록 큰 수 (예: 3 &gt; -2)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8561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Malgun Gothic"/>
              </a:rPr>
              <a:t>• 실생활: 온도계, 층수, 시간축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6110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Malgun Gothic"/>
              </a:rPr>
              <a:t>• 좌표계의 기초 — x축이 바로 수직선!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97280"/>
            <a:ext cx="60350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algun Gothic"/>
              </a:rPr>
              <a:t>Chapter 2. 함숫값 (Function)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12880" cy="15544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11338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47A1"/>
                </a:solidFill>
                <a:latin typeface="Malgun Gothic"/>
              </a:rPr>
              <a:t>💬 마법 상자에 숫자를 넣으면 규칙에 따라 다른 숫자가 나와요. 이게 함수!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834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Malgun Gothic"/>
              </a:rPr>
              <a:t>• 함수: 입력값(x) → 규칙(f) → 출력값(y)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31012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Malgun Gothic"/>
              </a:rPr>
              <a:t>• 표기법: y = f(x)  예) f(x) = x + 2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8561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Malgun Gothic"/>
              </a:rPr>
              <a:t>• 하나의 입력 = 하나의 출력 (중요한 조건!)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611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Malgun Gothic"/>
              </a:rPr>
              <a:t>• 그래프로 표현 → 점들을 연결한 곡선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algun Gothic"/>
              </a:rPr>
              <a:t>Chapter 3. 기울기 (Slope)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303520" cy="15544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47A1"/>
                </a:solidFill>
                <a:latin typeface="Malgun Gothic"/>
              </a:rPr>
              <a:t>💬 언덕이 얼마나 가파른지 숫자로 표현한 것! 자전거 타기를 상상해봐요.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834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Malgun Gothic"/>
              </a:rPr>
              <a:t>• 기울기 = (y₂-y₁) ÷ (x₂-x₁)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3101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Malgun Gothic"/>
              </a:rPr>
              <a:t>• 양수 기울기 → 오른쪽 위 방향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8561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Malgun Gothic"/>
              </a:rPr>
              <a:t>• 음수 기울기 → 오른쪽 아래 방향 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6110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Malgun Gothic"/>
              </a:rPr>
              <a:t>• 기울기 0 → 평평한 직선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3659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Malgun Gothic"/>
              </a:rPr>
              <a:t>• 미분의 핵심 아이디어!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97280"/>
            <a:ext cx="60350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algun Gothic"/>
              </a:rPr>
              <a:t>Chapter 4. 이차함수 (Quadratic Function)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303520" cy="15544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47A1"/>
                </a:solidFill>
                <a:latin typeface="Malgun Gothic"/>
              </a:rPr>
              <a:t>💬 포물선 모양의 함수! 공을 던지거나 롤러코스터를 타면 이 모양이에요.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834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Malgun Gothic"/>
              </a:rPr>
              <a:t>• y = ax² + bx + c  (이차항이 있으면 이차함수)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3101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Malgun Gothic"/>
              </a:rPr>
              <a:t>• a &gt; 0 → ∪ 모양  /  a &lt; 0 → ∩ 모양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8561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Malgun Gothic"/>
              </a:rPr>
              <a:t>• 꼭짓점 x = -b/(2a) — 가장 높거나 낮은 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6110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Malgun Gothic"/>
              </a:rPr>
              <a:t>• 대칭축을 경계로 좌우 대칭!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3659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Malgun Gothic"/>
              </a:rPr>
              <a:t>• 실생활: 공의 궤적, 현수교, 반사경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97280"/>
            <a:ext cx="60350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  <a:latin typeface="Malgun Gothic"/>
              </a:rPr>
              <a:t>⚡ Chapter 5. </a:t>
            </a:r>
            <a:r>
              <a:rPr sz="3000" b="1" dirty="0" err="1">
                <a:solidFill>
                  <a:srgbClr val="FFFFFF"/>
                </a:solidFill>
                <a:latin typeface="Malgun Gothic"/>
              </a:rPr>
              <a:t>미분은</a:t>
            </a:r>
            <a:r>
              <a:rPr sz="30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Malgun Gothic"/>
              </a:rPr>
              <a:t>기울기</a:t>
            </a:r>
            <a:endParaRPr sz="30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4937760" cy="164592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5100"/>
                </a:solidFill>
                <a:latin typeface="Malgun Gothic"/>
              </a:rPr>
              <a:t>핵심 공식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457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Malgun Gothic"/>
              </a:rPr>
              <a:t>f'(x) = lim  [f(x+h) - f(x)] / h
           h→0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80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Malgun Gothic"/>
              </a:rPr>
              <a:t>• h를 점점 0에 가깝게 → 극한값 = 미분값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3558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Malgun Gothic"/>
              </a:rPr>
              <a:t>• 미분값 = 그 점에서의 접선 기울기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831335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Malgun Gothic"/>
              </a:rPr>
              <a:t>• f(x)=x² → f'(x)=2x  (n·xⁿ⁻¹ 공식)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306823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Malgun Gothic"/>
              </a:rPr>
              <a:t>• 양의 미분값 → 증가 / 음의 미분값 → 감소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78231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Malgun Gothic"/>
              </a:rPr>
              <a:t>• 미분값=0 → 극대 또는 극소 (꼭짓점!)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51560"/>
            <a:ext cx="63093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  <a:latin typeface="Malgun Gothic"/>
              </a:rPr>
              <a:t>🏞️ Chapter 6. </a:t>
            </a:r>
            <a:r>
              <a:rPr sz="3000" b="1" dirty="0" err="1">
                <a:solidFill>
                  <a:srgbClr val="FFFFFF"/>
                </a:solidFill>
                <a:latin typeface="Malgun Gothic"/>
              </a:rPr>
              <a:t>적분은</a:t>
            </a:r>
            <a:r>
              <a:rPr sz="30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Malgun Gothic"/>
              </a:rPr>
              <a:t>넓이</a:t>
            </a:r>
            <a:endParaRPr sz="30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4937760" cy="1645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AF50"/>
                </a:solidFill>
                <a:latin typeface="Malgun Gothic"/>
              </a:rPr>
              <a:t>핵심 공식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121"/>
                </a:solidFill>
                <a:latin typeface="Malgun Gothic"/>
              </a:rPr>
              <a:t>∫ₐᵇ f(x) dx = F(b) - F(a)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80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Malgun Gothic"/>
              </a:rPr>
              <a:t>• 곡선 아래를 얇은 직사각형으로 채움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3558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Malgun Gothic"/>
              </a:rPr>
              <a:t>• 직사각형 넓이 = f(x) × Δx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831335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Malgun Gothic"/>
              </a:rPr>
              <a:t>• Δx → 0 (무한히 얇게) → 정확한 넓이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306823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Malgun Gothic"/>
              </a:rPr>
              <a:t>• 리만 합 → 정적분으로 수렴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78231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Malgun Gothic"/>
              </a:rPr>
              <a:t>• 미적분학 기본 정리: (미분의 역=적분)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6400800" cy="2743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840480"/>
            <a:ext cx="64008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algun Gothic"/>
              </a:rPr>
              <a:t>🤖 AI 수학 튜터 — Ollama + gemma4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C27B0"/>
                </a:solidFill>
                <a:latin typeface="Malgun Gothic"/>
              </a:rPr>
              <a:t>시스템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83080"/>
            <a:ext cx="48463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Malgun Gothic"/>
              </a:rPr>
              <a:t>🖥️ Streamlit  —  대화형 웹 UI, 실시간 렌더링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13432"/>
            <a:ext cx="48463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359151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Malgun Gothic"/>
              </a:rPr>
              <a:t>🤖 Ollama  —  로컬 LLM 실행 (gemma4:e4b / 26b)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43784"/>
            <a:ext cx="48463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889503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Malgun Gothic"/>
              </a:rPr>
              <a:t>📊 Matplotlib  —  수학 그래프 시각화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74136"/>
            <a:ext cx="48463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41985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Malgun Gothic"/>
              </a:rPr>
              <a:t>🔢 NumPy  —  수치 계산 및 배열 처리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04487"/>
            <a:ext cx="48463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950207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Malgun Gothic"/>
              </a:rPr>
              <a:t>📐 SymPy  —  기호 수학 (미분·적분 공식)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617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C27B0"/>
                </a:solidFill>
                <a:latin typeface="Malgun Gothic"/>
              </a:rPr>
              <a:t>모델 비교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074920"/>
            <a:ext cx="2286000" cy="9144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51206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976D2"/>
                </a:solidFill>
                <a:latin typeface="Malgun Gothic"/>
              </a:rPr>
              <a:t>gemma4:e4b
⚡ 빠른 응답
가벼운 질문에 최적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5074920"/>
            <a:ext cx="2286000" cy="914400"/>
          </a:xfrm>
          <a:prstGeom prst="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26080" y="51206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4336"/>
                </a:solidFill>
                <a:latin typeface="Malgun Gothic"/>
              </a:rPr>
              <a:t>gemma4:26b
🧠 깊은 설명
복잡한 개념 풀이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1264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algun Gothic"/>
              </a:rPr>
              <a:t>🎓 핵심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554480"/>
            <a:ext cx="5394960" cy="12801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📏 수직선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48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>모든 수를 한 줄에 — 수학의 기초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554480"/>
            <a:ext cx="5394960" cy="12801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📊 함수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148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>입력 → 규칙 → 출력 (마법 상자)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5394960" cy="12801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📐 기울기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94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>세로 변화 ÷ 가로 변화 = 가파름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200400"/>
            <a:ext cx="5394960" cy="128016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3291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🎢 이차함수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794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>y=ax²+bx+c, 포물선, 꼭짓점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46320"/>
            <a:ext cx="5394960" cy="128016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9377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⚡ 미분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440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>극한으로 구한 순간 기울기 = f'(x)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846320"/>
            <a:ext cx="5394960" cy="1280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49377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🏞️ 적분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440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algun Gothic"/>
              </a:rPr>
              <a:t>무한 직사각형의 합 = 곡선 아래 넓이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BDEFB"/>
                </a:solidFill>
                <a:latin typeface="Malgun Gothic"/>
              </a:rPr>
              <a:t>🤖 + Streamlit + Ollama(gemma4) = 누구나 미적분을 배울 수 있다!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655</Words>
  <Application>Microsoft Office PowerPoint</Application>
  <PresentationFormat>사용자 지정</PresentationFormat>
  <Paragraphs>89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2026-05-09T00:15:25Z</dcterms:modified>
  <cp:category/>
</cp:coreProperties>
</file>